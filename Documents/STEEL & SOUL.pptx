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Poppins Bold" charset="1" panose="00000800000000000000"/>
      <p:regular r:id="rId38"/>
    </p:embeddedFont>
    <p:embeddedFont>
      <p:font typeface="Lato" charset="1" panose="020F0502020204030203"/>
      <p:regular r:id="rId39"/>
    </p:embeddedFont>
    <p:embeddedFont>
      <p:font typeface="Noto Sans Kr" charset="1" panose="020B0200000000000000"/>
      <p:regular r:id="rId40"/>
    </p:embeddedFont>
    <p:embeddedFont>
      <p:font typeface="Poppins" charset="1" panose="00000500000000000000"/>
      <p:regular r:id="rId41"/>
    </p:embeddedFont>
    <p:embeddedFont>
      <p:font typeface="Lato Bold" charset="1" panose="020F0502020204030203"/>
      <p:regular r:id="rId42"/>
    </p:embeddedFont>
    <p:embeddedFont>
      <p:font typeface="Times New Roman" charset="1" panose="020206030504050203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jbaem/KI_Exam02_PJB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https://www.youtube.com/watch?v=EkkIYOGDbbc" TargetMode="External" Type="http://schemas.openxmlformats.org/officeDocument/2006/relationships/video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jpe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Relationship Id="rId5" Target="../media/image3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jpeg" Type="http://schemas.openxmlformats.org/officeDocument/2006/relationships/image"/><Relationship Id="rId4" Target="../media/image45.jpeg" Type="http://schemas.openxmlformats.org/officeDocument/2006/relationships/image"/><Relationship Id="rId5" Target="../media/image4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https://www.youtube.com/watch?v=60M7WZMPjsQ" TargetMode="External" Type="http://schemas.openxmlformats.org/officeDocument/2006/relationships/video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3195638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9000" y="4910137"/>
            <a:ext cx="1143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언리얼 블루프린트 개인 프로젝트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9000" y="5995987"/>
            <a:ext cx="1143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개발자: 박준범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37361" y="4271962"/>
            <a:ext cx="12289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RPG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목차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93096" y="6354033"/>
            <a:ext cx="6552131" cy="2731808"/>
            <a:chOff x="0" y="0"/>
            <a:chExt cx="8736174" cy="364241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736174" cy="1038911"/>
              <a:chOff x="0" y="0"/>
              <a:chExt cx="8736174" cy="103891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736175" cy="1038911"/>
              </a:xfrm>
              <a:custGeom>
                <a:avLst/>
                <a:gdLst/>
                <a:ahLst/>
                <a:cxnLst/>
                <a:rect r="r" b="b" t="t" l="l"/>
                <a:pathLst>
                  <a:path h="1038911" w="8736175">
                    <a:moveTo>
                      <a:pt x="0" y="0"/>
                    </a:moveTo>
                    <a:lnTo>
                      <a:pt x="8736175" y="0"/>
                    </a:lnTo>
                    <a:lnTo>
                      <a:pt x="8736175" y="1038911"/>
                    </a:lnTo>
                    <a:lnTo>
                      <a:pt x="0" y="10389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00025"/>
                <a:ext cx="8736174" cy="1238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670"/>
                  </a:lnSpc>
                </a:pP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3. 핵심 기능 소개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530808" y="899211"/>
              <a:ext cx="8077972" cy="800100"/>
              <a:chOff x="0" y="0"/>
              <a:chExt cx="8077972" cy="800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(1)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플레이어.........................................................................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9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530808" y="1534211"/>
              <a:ext cx="8077972" cy="800100"/>
              <a:chOff x="0" y="0"/>
              <a:chExt cx="8077972" cy="8001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(2) 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보스 몬스터.................................................................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15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30808" y="2207311"/>
              <a:ext cx="8077972" cy="800100"/>
              <a:chOff x="0" y="0"/>
              <a:chExt cx="8077972" cy="800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(3)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터렛 기믹 ...................................................................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20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30808" y="2842311"/>
              <a:ext cx="8077972" cy="800100"/>
              <a:chOff x="0" y="0"/>
              <a:chExt cx="8077972" cy="8001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(4)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유저 인터페이스.......................................................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23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493096" y="2253596"/>
            <a:ext cx="6456585" cy="2178254"/>
            <a:chOff x="0" y="0"/>
            <a:chExt cx="8608781" cy="290433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608781" cy="1038911"/>
              <a:chOff x="0" y="0"/>
              <a:chExt cx="8608781" cy="103891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608781" cy="1038911"/>
              </a:xfrm>
              <a:custGeom>
                <a:avLst/>
                <a:gdLst/>
                <a:ahLst/>
                <a:cxnLst/>
                <a:rect r="r" b="b" t="t" l="l"/>
                <a:pathLst>
                  <a:path h="1038911" w="8608781">
                    <a:moveTo>
                      <a:pt x="0" y="0"/>
                    </a:moveTo>
                    <a:lnTo>
                      <a:pt x="8608781" y="0"/>
                    </a:lnTo>
                    <a:lnTo>
                      <a:pt x="8608781" y="1038911"/>
                    </a:lnTo>
                    <a:lnTo>
                      <a:pt x="0" y="10389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00025"/>
                <a:ext cx="8608781" cy="1238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670"/>
                  </a:lnSpc>
                </a:pP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1. 개요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30808" y="855351"/>
              <a:ext cx="8077972" cy="800100"/>
              <a:chOff x="0" y="0"/>
              <a:chExt cx="8077972" cy="8001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(1)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프로젝트 개요...............................................................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530808" y="1488289"/>
              <a:ext cx="8077972" cy="800100"/>
              <a:chOff x="0" y="0"/>
              <a:chExt cx="8077972" cy="8001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(2)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게임 컨셉.......................................................................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530808" y="2104239"/>
              <a:ext cx="8077972" cy="800100"/>
              <a:chOff x="0" y="0"/>
              <a:chExt cx="8077972" cy="8001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(3) 개발 일정.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......................................................................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493096" y="4764292"/>
            <a:ext cx="6456585" cy="1257300"/>
            <a:chOff x="0" y="0"/>
            <a:chExt cx="8608781" cy="16764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608781" cy="1038911"/>
              <a:chOff x="0" y="0"/>
              <a:chExt cx="8608781" cy="103891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608781" cy="1038911"/>
              </a:xfrm>
              <a:custGeom>
                <a:avLst/>
                <a:gdLst/>
                <a:ahLst/>
                <a:cxnLst/>
                <a:rect r="r" b="b" t="t" l="l"/>
                <a:pathLst>
                  <a:path h="1038911" w="8608781">
                    <a:moveTo>
                      <a:pt x="0" y="0"/>
                    </a:moveTo>
                    <a:lnTo>
                      <a:pt x="8608781" y="0"/>
                    </a:lnTo>
                    <a:lnTo>
                      <a:pt x="8608781" y="1038911"/>
                    </a:lnTo>
                    <a:lnTo>
                      <a:pt x="0" y="10389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00025"/>
                <a:ext cx="8608781" cy="1238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670"/>
                  </a:lnSpc>
                </a:pP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2. 티저 영상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30808" y="876300"/>
              <a:ext cx="8077972" cy="800100"/>
              <a:chOff x="0" y="0"/>
              <a:chExt cx="8077972" cy="8001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(1) 티저 영상.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.......................................................................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7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9144000" y="2253596"/>
            <a:ext cx="6456585" cy="1257300"/>
            <a:chOff x="0" y="0"/>
            <a:chExt cx="8608781" cy="16764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8608781" cy="1038911"/>
              <a:chOff x="0" y="0"/>
              <a:chExt cx="8608781" cy="103891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608781" cy="1038911"/>
              </a:xfrm>
              <a:custGeom>
                <a:avLst/>
                <a:gdLst/>
                <a:ahLst/>
                <a:cxnLst/>
                <a:rect r="r" b="b" t="t" l="l"/>
                <a:pathLst>
                  <a:path h="1038911" w="8608781">
                    <a:moveTo>
                      <a:pt x="0" y="0"/>
                    </a:moveTo>
                    <a:lnTo>
                      <a:pt x="8608781" y="0"/>
                    </a:lnTo>
                    <a:lnTo>
                      <a:pt x="8608781" y="1038911"/>
                    </a:lnTo>
                    <a:lnTo>
                      <a:pt x="0" y="10389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00025"/>
                <a:ext cx="8608781" cy="1238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670"/>
                  </a:lnSpc>
                </a:pP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4. 전체 플레이 영상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530808" y="876300"/>
              <a:ext cx="8077972" cy="800100"/>
              <a:chOff x="0" y="0"/>
              <a:chExt cx="8077972" cy="8001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(1) 전체 플레이 영상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25</a:t>
                </a: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9144000" y="3777596"/>
            <a:ext cx="6552131" cy="2731808"/>
            <a:chOff x="0" y="0"/>
            <a:chExt cx="8736174" cy="3642411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8736174" cy="1038911"/>
              <a:chOff x="0" y="0"/>
              <a:chExt cx="8736174" cy="103891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736175" cy="1038911"/>
              </a:xfrm>
              <a:custGeom>
                <a:avLst/>
                <a:gdLst/>
                <a:ahLst/>
                <a:cxnLst/>
                <a:rect r="r" b="b" t="t" l="l"/>
                <a:pathLst>
                  <a:path h="1038911" w="8736175">
                    <a:moveTo>
                      <a:pt x="0" y="0"/>
                    </a:moveTo>
                    <a:lnTo>
                      <a:pt x="8736175" y="0"/>
                    </a:lnTo>
                    <a:lnTo>
                      <a:pt x="8736175" y="1038911"/>
                    </a:lnTo>
                    <a:lnTo>
                      <a:pt x="0" y="10389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200025"/>
                <a:ext cx="8736174" cy="1238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670"/>
                  </a:lnSpc>
                </a:pP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</a:t>
                </a:r>
                <a:r>
                  <a:rPr lang="en-US" sz="315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 기능 상세 정보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530808" y="899211"/>
              <a:ext cx="8077972" cy="800100"/>
              <a:chOff x="0" y="0"/>
              <a:chExt cx="8077972" cy="8001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(1)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플레이어 상태 시스템..............................................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28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530808" y="1534211"/>
              <a:ext cx="8077972" cy="800100"/>
              <a:chOff x="0" y="0"/>
              <a:chExt cx="8077972" cy="8001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(2) 플레이어 콤보 공격 시스템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29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530808" y="2207311"/>
              <a:ext cx="8077972" cy="800100"/>
              <a:chOff x="0" y="0"/>
              <a:chExt cx="8077972" cy="8001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(3)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보스 몬스터 패턴 알고리즘...................................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30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530808" y="2842311"/>
              <a:ext cx="8077972" cy="800100"/>
              <a:chOff x="0" y="0"/>
              <a:chExt cx="8077972" cy="8001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0779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8077972">
                    <a:moveTo>
                      <a:pt x="0" y="0"/>
                    </a:moveTo>
                    <a:lnTo>
                      <a:pt x="8077972" y="0"/>
                    </a:lnTo>
                    <a:lnTo>
                      <a:pt x="80779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42875"/>
                <a:ext cx="8077972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(4)</a:t>
                </a:r>
                <a:r>
                  <a:rPr lang="en-US" sz="2000">
                    <a:solidFill>
                      <a:srgbClr val="C9D1D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터렛 적군화 패턴......................................................</a:t>
                </a:r>
                <a:r>
                  <a:rPr lang="en-US" sz="2000">
                    <a:solidFill>
                      <a:srgbClr val="33CC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31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1. 개요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9000" y="2414587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장르: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Action RPG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9000" y="3357563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게임 방식: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근접 공격 (다크소울) 및 기믹 상호작용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9000" y="4300537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시점: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3인칭 백 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9000" y="5243513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개발 환경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Unreal Engine 5.5.4 (블루프린트)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29000" y="6186487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기간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2025.10.23 ~ 11.06 (2주)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9000" y="7129463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Repository: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700" u="sng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  <a:hlinkClick r:id="rId3" tooltip="https://github.com/jbaem/KI_Exam02_PJB"/>
              </a:rPr>
              <a:t>github.com/jbaem/KI_Exam02_PJB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14625" y="2561272"/>
            <a:ext cx="500062" cy="400050"/>
            <a:chOff x="0" y="0"/>
            <a:chExt cx="666750" cy="53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14625" y="3552825"/>
            <a:ext cx="500062" cy="400050"/>
            <a:chOff x="0" y="0"/>
            <a:chExt cx="66675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14625" y="4456747"/>
            <a:ext cx="500062" cy="400050"/>
            <a:chOff x="0" y="0"/>
            <a:chExt cx="666750" cy="533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14625" y="5409247"/>
            <a:ext cx="500062" cy="400050"/>
            <a:chOff x="0" y="0"/>
            <a:chExt cx="666750" cy="533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14625" y="7362825"/>
            <a:ext cx="500062" cy="400050"/>
            <a:chOff x="0" y="0"/>
            <a:chExt cx="666750" cy="533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1) 프로젝트 개요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769775" y="6348412"/>
            <a:ext cx="389763" cy="442912"/>
            <a:chOff x="0" y="0"/>
            <a:chExt cx="838200" cy="9525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838200" cy="952500"/>
            </a:xfrm>
            <a:custGeom>
              <a:avLst/>
              <a:gdLst/>
              <a:ahLst/>
              <a:cxnLst/>
              <a:rect r="r" b="b" t="t" l="l"/>
              <a:pathLst>
                <a:path h="9525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67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40361" y="3328225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배경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콜로세움 1 스테이지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0361" y="4271200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플레이어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전사 (검, 방패)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0361" y="5214175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보스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근접 몬스터 1 종 (3 페이즈)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0361" y="6157150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기믹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포탑 1 종 (적/아군 전환)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40361" y="7100125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승리 조건</a:t>
            </a: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보스 몬스터 처치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40361" y="8043100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패배 조건: 플레이어 캐릭터 사망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(2)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 게임 컨셉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61705" y="3490150"/>
            <a:ext cx="428625" cy="428625"/>
            <a:chOff x="0" y="0"/>
            <a:chExt cx="952500" cy="9525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59991" y="4445032"/>
            <a:ext cx="504063" cy="400050"/>
            <a:chOff x="0" y="0"/>
            <a:chExt cx="1200150" cy="9525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200150" cy="952500"/>
            </a:xfrm>
            <a:custGeom>
              <a:avLst/>
              <a:gdLst/>
              <a:ahLst/>
              <a:cxnLst/>
              <a:rect r="r" b="b" t="t" l="l"/>
              <a:pathLst>
                <a:path h="952500" w="1200150">
                  <a:moveTo>
                    <a:pt x="0" y="0"/>
                  </a:moveTo>
                  <a:lnTo>
                    <a:pt x="1200150" y="0"/>
                  </a:lnTo>
                  <a:lnTo>
                    <a:pt x="120015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0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59991" y="5340382"/>
            <a:ext cx="428053" cy="486424"/>
            <a:chOff x="0" y="0"/>
            <a:chExt cx="838200" cy="9525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38200" cy="952500"/>
            </a:xfrm>
            <a:custGeom>
              <a:avLst/>
              <a:gdLst/>
              <a:ahLst/>
              <a:cxnLst/>
              <a:rect r="r" b="b" t="t" l="l"/>
              <a:pathLst>
                <a:path h="9525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6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665164" y="6300319"/>
            <a:ext cx="617708" cy="490244"/>
            <a:chOff x="0" y="0"/>
            <a:chExt cx="1200150" cy="9525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200150" cy="952500"/>
            </a:xfrm>
            <a:custGeom>
              <a:avLst/>
              <a:gdLst/>
              <a:ahLst/>
              <a:cxnLst/>
              <a:rect r="r" b="b" t="t" l="l"/>
              <a:pathLst>
                <a:path h="952500" w="1200150">
                  <a:moveTo>
                    <a:pt x="0" y="0"/>
                  </a:moveTo>
                  <a:lnTo>
                    <a:pt x="1200150" y="0"/>
                  </a:lnTo>
                  <a:lnTo>
                    <a:pt x="120015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0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63134" y="7195313"/>
            <a:ext cx="427196" cy="562100"/>
            <a:chOff x="0" y="0"/>
            <a:chExt cx="723900" cy="9525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23900" cy="952500"/>
            </a:xfrm>
            <a:custGeom>
              <a:avLst/>
              <a:gdLst/>
              <a:ahLst/>
              <a:cxnLst/>
              <a:rect r="r" b="b" t="t" l="l"/>
              <a:pathLst>
                <a:path h="9525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1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711699" y="8233663"/>
            <a:ext cx="514350" cy="514350"/>
            <a:chOff x="0" y="0"/>
            <a:chExt cx="952500" cy="9525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429000" y="2395537"/>
            <a:ext cx="12144375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2700">
                <a:solidFill>
                  <a:srgbClr val="F0F6FC"/>
                </a:solidFill>
                <a:latin typeface="Lato Bold"/>
                <a:ea typeface="Lato Bold"/>
                <a:cs typeface="Lato Bold"/>
                <a:sym typeface="Lato Bold"/>
              </a:rPr>
              <a:t>주제:</a:t>
            </a:r>
            <a:r>
              <a:rPr lang="en-US" sz="27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 보스 캐릭터 처치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714625" y="2594800"/>
            <a:ext cx="500062" cy="400050"/>
            <a:chOff x="0" y="0"/>
            <a:chExt cx="666750" cy="5334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63398" y="4429125"/>
            <a:ext cx="14153062" cy="842962"/>
            <a:chOff x="0" y="0"/>
            <a:chExt cx="18870750" cy="11239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88707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870750">
                  <a:moveTo>
                    <a:pt x="0" y="0"/>
                  </a:moveTo>
                  <a:lnTo>
                    <a:pt x="18870750" y="0"/>
                  </a:lnTo>
                  <a:lnTo>
                    <a:pt x="18870750" y="1123950"/>
                  </a:lnTo>
                  <a:lnTo>
                    <a:pt x="0" y="112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0000"/>
              </a:blip>
              <a:stretch>
                <a:fillRect l="0" t="-8031" r="-175" b="-80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63398" y="5343525"/>
            <a:ext cx="14153062" cy="842962"/>
            <a:chOff x="0" y="0"/>
            <a:chExt cx="18870750" cy="1123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88707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870750">
                  <a:moveTo>
                    <a:pt x="0" y="0"/>
                  </a:moveTo>
                  <a:lnTo>
                    <a:pt x="18870750" y="0"/>
                  </a:lnTo>
                  <a:lnTo>
                    <a:pt x="18870750" y="1123950"/>
                  </a:lnTo>
                  <a:lnTo>
                    <a:pt x="0" y="112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31" r="-175" b="-80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3398" y="6257925"/>
            <a:ext cx="14153062" cy="842962"/>
            <a:chOff x="0" y="0"/>
            <a:chExt cx="18870750" cy="11239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88707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870750">
                  <a:moveTo>
                    <a:pt x="0" y="0"/>
                  </a:moveTo>
                  <a:lnTo>
                    <a:pt x="18870750" y="0"/>
                  </a:lnTo>
                  <a:lnTo>
                    <a:pt x="18870750" y="1123950"/>
                  </a:lnTo>
                  <a:lnTo>
                    <a:pt x="0" y="112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31" r="-175" b="-803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63398" y="7172325"/>
            <a:ext cx="14153062" cy="842962"/>
            <a:chOff x="0" y="0"/>
            <a:chExt cx="18870750" cy="11239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88707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870750">
                  <a:moveTo>
                    <a:pt x="0" y="0"/>
                  </a:moveTo>
                  <a:lnTo>
                    <a:pt x="18870750" y="0"/>
                  </a:lnTo>
                  <a:lnTo>
                    <a:pt x="18870750" y="1123950"/>
                  </a:lnTo>
                  <a:lnTo>
                    <a:pt x="0" y="112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31" r="-175" b="-80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1538" y="4329112"/>
            <a:ext cx="2090630" cy="28575"/>
            <a:chOff x="0" y="0"/>
            <a:chExt cx="2787506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7507" cy="38100"/>
            </a:xfrm>
            <a:custGeom>
              <a:avLst/>
              <a:gdLst/>
              <a:ahLst/>
              <a:cxnLst/>
              <a:rect r="r" b="b" t="t" l="l"/>
              <a:pathLst>
                <a:path h="3810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7941" y="4619720"/>
            <a:ext cx="1901211" cy="461772"/>
            <a:chOff x="0" y="0"/>
            <a:chExt cx="2534948" cy="6156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4948" cy="615696"/>
            </a:xfrm>
            <a:custGeom>
              <a:avLst/>
              <a:gdLst/>
              <a:ahLst/>
              <a:cxnLst/>
              <a:rect r="r" b="b" t="t" l="l"/>
              <a:pathLst>
                <a:path h="615696" w="2534948">
                  <a:moveTo>
                    <a:pt x="0" y="0"/>
                  </a:moveTo>
                  <a:lnTo>
                    <a:pt x="2534948" y="0"/>
                  </a:lnTo>
                  <a:lnTo>
                    <a:pt x="2534948" y="615696"/>
                  </a:lnTo>
                  <a:lnTo>
                    <a:pt x="0" y="615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534948" cy="625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F0F6FC"/>
                  </a:solidFill>
                  <a:latin typeface="Lato Bold"/>
                  <a:ea typeface="Lato Bold"/>
                  <a:cs typeface="Lato Bold"/>
                  <a:sym typeface="Lato Bold"/>
                </a:rPr>
                <a:t>문서/디자인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1538" y="5257800"/>
            <a:ext cx="2090630" cy="14288"/>
            <a:chOff x="0" y="0"/>
            <a:chExt cx="2787506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87507" cy="19050"/>
            </a:xfrm>
            <a:custGeom>
              <a:avLst/>
              <a:gdLst/>
              <a:ahLst/>
              <a:cxnLst/>
              <a:rect r="r" b="b" t="t" l="l"/>
              <a:pathLst>
                <a:path h="1905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7941" y="5534120"/>
            <a:ext cx="1901211" cy="461772"/>
            <a:chOff x="0" y="0"/>
            <a:chExt cx="2534948" cy="6156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34948" cy="615696"/>
            </a:xfrm>
            <a:custGeom>
              <a:avLst/>
              <a:gdLst/>
              <a:ahLst/>
              <a:cxnLst/>
              <a:rect r="r" b="b" t="t" l="l"/>
              <a:pathLst>
                <a:path h="615696" w="2534948">
                  <a:moveTo>
                    <a:pt x="0" y="0"/>
                  </a:moveTo>
                  <a:lnTo>
                    <a:pt x="2534948" y="0"/>
                  </a:lnTo>
                  <a:lnTo>
                    <a:pt x="2534948" y="615696"/>
                  </a:lnTo>
                  <a:lnTo>
                    <a:pt x="0" y="615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534948" cy="625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F0F6FC"/>
                  </a:solidFill>
                  <a:latin typeface="Lato Bold"/>
                  <a:ea typeface="Lato Bold"/>
                  <a:cs typeface="Lato Bold"/>
                  <a:sym typeface="Lato Bold"/>
                </a:rPr>
                <a:t>배경/UI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1538" y="6172200"/>
            <a:ext cx="2090630" cy="14288"/>
            <a:chOff x="0" y="0"/>
            <a:chExt cx="2787506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87507" cy="19050"/>
            </a:xfrm>
            <a:custGeom>
              <a:avLst/>
              <a:gdLst/>
              <a:ahLst/>
              <a:cxnLst/>
              <a:rect r="r" b="b" t="t" l="l"/>
              <a:pathLst>
                <a:path h="1905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7941" y="6448520"/>
            <a:ext cx="1901211" cy="461772"/>
            <a:chOff x="0" y="0"/>
            <a:chExt cx="2534948" cy="6156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34948" cy="615696"/>
            </a:xfrm>
            <a:custGeom>
              <a:avLst/>
              <a:gdLst/>
              <a:ahLst/>
              <a:cxnLst/>
              <a:rect r="r" b="b" t="t" l="l"/>
              <a:pathLst>
                <a:path h="615696" w="2534948">
                  <a:moveTo>
                    <a:pt x="0" y="0"/>
                  </a:moveTo>
                  <a:lnTo>
                    <a:pt x="2534948" y="0"/>
                  </a:lnTo>
                  <a:lnTo>
                    <a:pt x="2534948" y="615696"/>
                  </a:lnTo>
                  <a:lnTo>
                    <a:pt x="0" y="615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534948" cy="625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F0F6FC"/>
                  </a:solidFill>
                  <a:latin typeface="Lato Bold"/>
                  <a:ea typeface="Lato Bold"/>
                  <a:cs typeface="Lato Bold"/>
                  <a:sym typeface="Lato Bold"/>
                </a:rPr>
                <a:t>기능 구현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1538" y="7086600"/>
            <a:ext cx="2090630" cy="14288"/>
            <a:chOff x="0" y="0"/>
            <a:chExt cx="2787506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87507" cy="19050"/>
            </a:xfrm>
            <a:custGeom>
              <a:avLst/>
              <a:gdLst/>
              <a:ahLst/>
              <a:cxnLst/>
              <a:rect r="r" b="b" t="t" l="l"/>
              <a:pathLst>
                <a:path h="1905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7941" y="7362920"/>
            <a:ext cx="1901211" cy="461772"/>
            <a:chOff x="0" y="0"/>
            <a:chExt cx="2534948" cy="6156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34948" cy="615696"/>
            </a:xfrm>
            <a:custGeom>
              <a:avLst/>
              <a:gdLst/>
              <a:ahLst/>
              <a:cxnLst/>
              <a:rect r="r" b="b" t="t" l="l"/>
              <a:pathLst>
                <a:path h="615696" w="2534948">
                  <a:moveTo>
                    <a:pt x="0" y="0"/>
                  </a:moveTo>
                  <a:lnTo>
                    <a:pt x="2534948" y="0"/>
                  </a:lnTo>
                  <a:lnTo>
                    <a:pt x="2534948" y="615696"/>
                  </a:lnTo>
                  <a:lnTo>
                    <a:pt x="0" y="615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534948" cy="625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F0F6FC"/>
                  </a:solidFill>
                  <a:latin typeface="Lato Bold"/>
                  <a:ea typeface="Lato Bold"/>
                  <a:cs typeface="Lato Bold"/>
                  <a:sym typeface="Lato Bold"/>
                </a:rPr>
                <a:t>디버그/빌드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1538" y="8001000"/>
            <a:ext cx="2090630" cy="14288"/>
            <a:chOff x="0" y="0"/>
            <a:chExt cx="2787506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87507" cy="19050"/>
            </a:xfrm>
            <a:custGeom>
              <a:avLst/>
              <a:gdLst/>
              <a:ahLst/>
              <a:cxnLst/>
              <a:rect r="r" b="b" t="t" l="l"/>
              <a:pathLst>
                <a:path h="1905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5400000">
            <a:off x="990403" y="5820653"/>
            <a:ext cx="4317014" cy="72255"/>
            <a:chOff x="0" y="0"/>
            <a:chExt cx="2787506" cy="466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87507" cy="46655"/>
            </a:xfrm>
            <a:custGeom>
              <a:avLst/>
              <a:gdLst/>
              <a:ahLst/>
              <a:cxnLst/>
              <a:rect r="r" b="b" t="t" l="l"/>
              <a:pathLst>
                <a:path h="46655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46655"/>
                  </a:lnTo>
                  <a:lnTo>
                    <a:pt x="0" y="46655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337438" y="4329112"/>
            <a:ext cx="2090630" cy="28575"/>
            <a:chOff x="0" y="0"/>
            <a:chExt cx="2787506" cy="38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87507" cy="38100"/>
            </a:xfrm>
            <a:custGeom>
              <a:avLst/>
              <a:gdLst/>
              <a:ahLst/>
              <a:cxnLst/>
              <a:rect r="r" b="b" t="t" l="l"/>
              <a:pathLst>
                <a:path h="38100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37438" y="4625970"/>
            <a:ext cx="1851426" cy="449273"/>
            <a:chOff x="0" y="0"/>
            <a:chExt cx="1769818" cy="4294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69818" cy="429470"/>
            </a:xfrm>
            <a:custGeom>
              <a:avLst/>
              <a:gdLst/>
              <a:ahLst/>
              <a:cxnLst/>
              <a:rect r="r" b="b" t="t" l="l"/>
              <a:pathLst>
                <a:path h="429470" w="1769818">
                  <a:moveTo>
                    <a:pt x="1566618" y="0"/>
                  </a:moveTo>
                  <a:cubicBezTo>
                    <a:pt x="1678842" y="0"/>
                    <a:pt x="1769818" y="96140"/>
                    <a:pt x="1769818" y="214735"/>
                  </a:cubicBezTo>
                  <a:cubicBezTo>
                    <a:pt x="1769818" y="333330"/>
                    <a:pt x="1678842" y="429470"/>
                    <a:pt x="1566618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263C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769818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계획서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7941" y="3833813"/>
            <a:ext cx="190121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분류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24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(3)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 개발 일정 (2025.10.23 ~ 11.06)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76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429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81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334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86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39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29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91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30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144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31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096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049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01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954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9067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859250" y="3833813"/>
            <a:ext cx="529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8B949E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851361" y="4632219"/>
            <a:ext cx="3548879" cy="449273"/>
            <a:chOff x="0" y="0"/>
            <a:chExt cx="3392450" cy="429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92450" cy="429470"/>
            </a:xfrm>
            <a:custGeom>
              <a:avLst/>
              <a:gdLst/>
              <a:ahLst/>
              <a:cxnLst/>
              <a:rect r="r" b="b" t="t" l="l"/>
              <a:pathLst>
                <a:path h="429470" w="3392450">
                  <a:moveTo>
                    <a:pt x="3189250" y="0"/>
                  </a:moveTo>
                  <a:cubicBezTo>
                    <a:pt x="3301474" y="0"/>
                    <a:pt x="3392450" y="96140"/>
                    <a:pt x="3392450" y="214735"/>
                  </a:cubicBezTo>
                  <a:cubicBezTo>
                    <a:pt x="3392450" y="333330"/>
                    <a:pt x="3301474" y="429470"/>
                    <a:pt x="3189250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263C0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392450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PPT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93809" y="5540370"/>
            <a:ext cx="925713" cy="449273"/>
            <a:chOff x="0" y="0"/>
            <a:chExt cx="884909" cy="429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4909" cy="429470"/>
            </a:xfrm>
            <a:custGeom>
              <a:avLst/>
              <a:gdLst/>
              <a:ahLst/>
              <a:cxnLst/>
              <a:rect r="r" b="b" t="t" l="l"/>
              <a:pathLst>
                <a:path h="429470" w="884909">
                  <a:moveTo>
                    <a:pt x="681709" y="0"/>
                  </a:moveTo>
                  <a:cubicBezTo>
                    <a:pt x="793933" y="0"/>
                    <a:pt x="884909" y="96140"/>
                    <a:pt x="884909" y="214735"/>
                  </a:cubicBezTo>
                  <a:cubicBezTo>
                    <a:pt x="884909" y="333330"/>
                    <a:pt x="793933" y="429470"/>
                    <a:pt x="681709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9765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884909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기본 UI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615467" y="7362920"/>
            <a:ext cx="800993" cy="449273"/>
            <a:chOff x="0" y="0"/>
            <a:chExt cx="765687" cy="4294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5687" cy="429470"/>
            </a:xfrm>
            <a:custGeom>
              <a:avLst/>
              <a:gdLst/>
              <a:ahLst/>
              <a:cxnLst/>
              <a:rect r="r" b="b" t="t" l="l"/>
              <a:pathLst>
                <a:path h="429470" w="765687">
                  <a:moveTo>
                    <a:pt x="562487" y="0"/>
                  </a:moveTo>
                  <a:cubicBezTo>
                    <a:pt x="674711" y="0"/>
                    <a:pt x="765687" y="96140"/>
                    <a:pt x="765687" y="214735"/>
                  </a:cubicBezTo>
                  <a:cubicBezTo>
                    <a:pt x="765687" y="333330"/>
                    <a:pt x="674711" y="429470"/>
                    <a:pt x="562487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75456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65687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빌드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338620" y="5243512"/>
            <a:ext cx="14050461" cy="47625"/>
            <a:chOff x="0" y="0"/>
            <a:chExt cx="2787506" cy="9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87507" cy="9448"/>
            </a:xfrm>
            <a:custGeom>
              <a:avLst/>
              <a:gdLst/>
              <a:ahLst/>
              <a:cxnLst/>
              <a:rect r="r" b="b" t="t" l="l"/>
              <a:pathLst>
                <a:path h="9448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9448"/>
                  </a:lnTo>
                  <a:lnTo>
                    <a:pt x="0" y="944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3337438" y="6148388"/>
            <a:ext cx="14050461" cy="47625"/>
            <a:chOff x="0" y="0"/>
            <a:chExt cx="2787506" cy="94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87507" cy="9448"/>
            </a:xfrm>
            <a:custGeom>
              <a:avLst/>
              <a:gdLst/>
              <a:ahLst/>
              <a:cxnLst/>
              <a:rect r="r" b="b" t="t" l="l"/>
              <a:pathLst>
                <a:path h="9448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9448"/>
                  </a:lnTo>
                  <a:lnTo>
                    <a:pt x="0" y="944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5400000">
            <a:off x="4941675" y="5806366"/>
            <a:ext cx="4317014" cy="72255"/>
            <a:chOff x="0" y="0"/>
            <a:chExt cx="2787506" cy="4665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87507" cy="46655"/>
            </a:xfrm>
            <a:custGeom>
              <a:avLst/>
              <a:gdLst/>
              <a:ahLst/>
              <a:cxnLst/>
              <a:rect r="r" b="b" t="t" l="l"/>
              <a:pathLst>
                <a:path h="46655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46655"/>
                  </a:lnTo>
                  <a:lnTo>
                    <a:pt x="0" y="46655"/>
                  </a:lnTo>
                  <a:close/>
                </a:path>
              </a:pathLst>
            </a:custGeom>
            <a:solidFill>
              <a:srgbClr val="2E2E2E">
                <a:alpha val="4980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5400000">
            <a:off x="11656727" y="5789697"/>
            <a:ext cx="4317014" cy="72255"/>
            <a:chOff x="0" y="0"/>
            <a:chExt cx="2787506" cy="4665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787507" cy="46655"/>
            </a:xfrm>
            <a:custGeom>
              <a:avLst/>
              <a:gdLst/>
              <a:ahLst/>
              <a:cxnLst/>
              <a:rect r="r" b="b" t="t" l="l"/>
              <a:pathLst>
                <a:path h="46655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46655"/>
                  </a:lnTo>
                  <a:lnTo>
                    <a:pt x="0" y="46655"/>
                  </a:lnTo>
                  <a:close/>
                </a:path>
              </a:pathLst>
            </a:custGeom>
            <a:solidFill>
              <a:srgbClr val="2E2E2E">
                <a:alpha val="49804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993809" y="6472238"/>
            <a:ext cx="5631992" cy="449273"/>
            <a:chOff x="0" y="0"/>
            <a:chExt cx="5383741" cy="42947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83741" cy="429470"/>
            </a:xfrm>
            <a:custGeom>
              <a:avLst/>
              <a:gdLst/>
              <a:ahLst/>
              <a:cxnLst/>
              <a:rect r="r" b="b" t="t" l="l"/>
              <a:pathLst>
                <a:path h="429470" w="5383741">
                  <a:moveTo>
                    <a:pt x="5180541" y="0"/>
                  </a:moveTo>
                  <a:cubicBezTo>
                    <a:pt x="5292765" y="0"/>
                    <a:pt x="5383741" y="96140"/>
                    <a:pt x="5383741" y="214735"/>
                  </a:cubicBezTo>
                  <a:cubicBezTo>
                    <a:pt x="5383741" y="333330"/>
                    <a:pt x="5292765" y="429470"/>
                    <a:pt x="5180541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A6D1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383741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전투 상호작용 구현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853097" y="5534120"/>
            <a:ext cx="1876425" cy="449273"/>
            <a:chOff x="0" y="0"/>
            <a:chExt cx="1793715" cy="429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93715" cy="429470"/>
            </a:xfrm>
            <a:custGeom>
              <a:avLst/>
              <a:gdLst/>
              <a:ahLst/>
              <a:cxnLst/>
              <a:rect r="r" b="b" t="t" l="l"/>
              <a:pathLst>
                <a:path h="429470" w="1793715">
                  <a:moveTo>
                    <a:pt x="1590515" y="0"/>
                  </a:moveTo>
                  <a:cubicBezTo>
                    <a:pt x="1702739" y="0"/>
                    <a:pt x="1793715" y="96140"/>
                    <a:pt x="1793715" y="214735"/>
                  </a:cubicBezTo>
                  <a:cubicBezTo>
                    <a:pt x="1793715" y="333330"/>
                    <a:pt x="1702739" y="429470"/>
                    <a:pt x="1590515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9765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793715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추가 UI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366000" y="7069931"/>
            <a:ext cx="14050461" cy="47625"/>
            <a:chOff x="0" y="0"/>
            <a:chExt cx="2787506" cy="9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87507" cy="9448"/>
            </a:xfrm>
            <a:custGeom>
              <a:avLst/>
              <a:gdLst/>
              <a:ahLst/>
              <a:cxnLst/>
              <a:rect r="r" b="b" t="t" l="l"/>
              <a:pathLst>
                <a:path h="9448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9448"/>
                  </a:lnTo>
                  <a:lnTo>
                    <a:pt x="0" y="944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136309" y="5546619"/>
            <a:ext cx="925713" cy="449273"/>
            <a:chOff x="0" y="0"/>
            <a:chExt cx="884909" cy="42947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84909" cy="429470"/>
            </a:xfrm>
            <a:custGeom>
              <a:avLst/>
              <a:gdLst/>
              <a:ahLst/>
              <a:cxnLst/>
              <a:rect r="r" b="b" t="t" l="l"/>
              <a:pathLst>
                <a:path h="429470" w="884909">
                  <a:moveTo>
                    <a:pt x="681709" y="0"/>
                  </a:moveTo>
                  <a:cubicBezTo>
                    <a:pt x="793933" y="0"/>
                    <a:pt x="884909" y="96140"/>
                    <a:pt x="884909" y="214735"/>
                  </a:cubicBezTo>
                  <a:cubicBezTo>
                    <a:pt x="884909" y="333330"/>
                    <a:pt x="793933" y="429470"/>
                    <a:pt x="681709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9765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884909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스테이지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343700" y="6472238"/>
            <a:ext cx="5425382" cy="449273"/>
            <a:chOff x="0" y="0"/>
            <a:chExt cx="5186238" cy="42947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86238" cy="429470"/>
            </a:xfrm>
            <a:custGeom>
              <a:avLst/>
              <a:gdLst/>
              <a:ahLst/>
              <a:cxnLst/>
              <a:rect r="r" b="b" t="t" l="l"/>
              <a:pathLst>
                <a:path h="429470" w="5186238">
                  <a:moveTo>
                    <a:pt x="4983038" y="0"/>
                  </a:moveTo>
                  <a:cubicBezTo>
                    <a:pt x="5095263" y="0"/>
                    <a:pt x="5186238" y="96140"/>
                    <a:pt x="5186238" y="214735"/>
                  </a:cubicBezTo>
                  <a:cubicBezTo>
                    <a:pt x="5186238" y="333330"/>
                    <a:pt x="5095263" y="429470"/>
                    <a:pt x="4983038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A6D1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5186238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유닛 기본 기능 구현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853097" y="7375419"/>
            <a:ext cx="3637651" cy="449273"/>
            <a:chOff x="0" y="0"/>
            <a:chExt cx="3477308" cy="42947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477308" cy="429470"/>
            </a:xfrm>
            <a:custGeom>
              <a:avLst/>
              <a:gdLst/>
              <a:ahLst/>
              <a:cxnLst/>
              <a:rect r="r" b="b" t="t" l="l"/>
              <a:pathLst>
                <a:path h="429470" w="3477308">
                  <a:moveTo>
                    <a:pt x="3274108" y="0"/>
                  </a:moveTo>
                  <a:cubicBezTo>
                    <a:pt x="3386332" y="0"/>
                    <a:pt x="3477308" y="96140"/>
                    <a:pt x="3477308" y="214735"/>
                  </a:cubicBezTo>
                  <a:cubicBezTo>
                    <a:pt x="3477308" y="333330"/>
                    <a:pt x="3386332" y="429470"/>
                    <a:pt x="3274108" y="429470"/>
                  </a:cubicBezTo>
                  <a:lnTo>
                    <a:pt x="203200" y="429470"/>
                  </a:lnTo>
                  <a:cubicBezTo>
                    <a:pt x="90976" y="429470"/>
                    <a:pt x="0" y="333330"/>
                    <a:pt x="0" y="214735"/>
                  </a:cubicBezTo>
                  <a:cubicBezTo>
                    <a:pt x="0" y="961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75456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3477308" cy="438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디버그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366000" y="7984331"/>
            <a:ext cx="14050461" cy="47625"/>
            <a:chOff x="0" y="0"/>
            <a:chExt cx="2787506" cy="9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787507" cy="9448"/>
            </a:xfrm>
            <a:custGeom>
              <a:avLst/>
              <a:gdLst/>
              <a:ahLst/>
              <a:cxnLst/>
              <a:rect r="r" b="b" t="t" l="l"/>
              <a:pathLst>
                <a:path h="9448" w="2787507">
                  <a:moveTo>
                    <a:pt x="0" y="0"/>
                  </a:moveTo>
                  <a:lnTo>
                    <a:pt x="2787507" y="0"/>
                  </a:lnTo>
                  <a:lnTo>
                    <a:pt x="2787507" y="9448"/>
                  </a:lnTo>
                  <a:lnTo>
                    <a:pt x="0" y="944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2. 티저 영상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</a:p>
        </p:txBody>
      </p:sp>
      <p:pic>
        <p:nvPicPr>
          <p:cNvPr name="Picture 5" id="5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1823085" y="1028700"/>
            <a:ext cx="1464183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248303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3. 핵심 기능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3250" y="5906694"/>
            <a:ext cx="12001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[플레이어]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9495263" cy="4928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95275" cy="4928338"/>
            </a:xfrm>
            <a:custGeom>
              <a:avLst/>
              <a:gdLst/>
              <a:ahLst/>
              <a:cxnLst/>
              <a:rect r="r" b="b" t="t" l="l"/>
              <a:pathLst>
                <a:path h="4928338" w="9495275">
                  <a:moveTo>
                    <a:pt x="0" y="0"/>
                  </a:moveTo>
                  <a:lnTo>
                    <a:pt x="9495275" y="0"/>
                  </a:lnTo>
                  <a:lnTo>
                    <a:pt x="9495275" y="4928338"/>
                  </a:lnTo>
                  <a:lnTo>
                    <a:pt x="0" y="492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77" r="0" b="-40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91275" y="3333750"/>
            <a:ext cx="5505450" cy="2857500"/>
            <a:chOff x="0" y="0"/>
            <a:chExt cx="9401597" cy="48797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01608" cy="4879722"/>
            </a:xfrm>
            <a:custGeom>
              <a:avLst/>
              <a:gdLst/>
              <a:ahLst/>
              <a:cxnLst/>
              <a:rect r="r" b="b" t="t" l="l"/>
              <a:pathLst>
                <a:path h="4879722" w="9401608">
                  <a:moveTo>
                    <a:pt x="0" y="0"/>
                  </a:moveTo>
                  <a:lnTo>
                    <a:pt x="9401608" y="0"/>
                  </a:lnTo>
                  <a:lnTo>
                    <a:pt x="9401608" y="4879722"/>
                  </a:lnTo>
                  <a:lnTo>
                    <a:pt x="0" y="4879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87" r="0" b="-41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11050" y="3333750"/>
            <a:ext cx="5505450" cy="2857500"/>
            <a:chOff x="0" y="0"/>
            <a:chExt cx="9495263" cy="49283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95275" cy="4928338"/>
            </a:xfrm>
            <a:custGeom>
              <a:avLst/>
              <a:gdLst/>
              <a:ahLst/>
              <a:cxnLst/>
              <a:rect r="r" b="b" t="t" l="l"/>
              <a:pathLst>
                <a:path h="4928338" w="9495275">
                  <a:moveTo>
                    <a:pt x="0" y="0"/>
                  </a:moveTo>
                  <a:lnTo>
                    <a:pt x="9495275" y="0"/>
                  </a:lnTo>
                  <a:lnTo>
                    <a:pt x="9495275" y="4928338"/>
                  </a:lnTo>
                  <a:lnTo>
                    <a:pt x="0" y="492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064" r="0" b="-406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플레이어 (1/5): 자원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체력바 색상 변경</a:t>
            </a:r>
          </a:p>
          <a:p>
            <a:pPr algn="just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현재 체력 비율 기준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번 아웃</a:t>
            </a:r>
          </a:p>
          <a:p>
            <a:pPr algn="just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기력 전부 소모 시</a:t>
            </a:r>
          </a:p>
          <a:p>
            <a:pPr algn="just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일정 시간 기력 사용 불가</a:t>
            </a:r>
          </a:p>
          <a:p>
            <a:pPr algn="just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기력 </a:t>
            </a: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자동 회복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09851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마나 회복</a:t>
            </a:r>
          </a:p>
          <a:p>
            <a:pPr algn="just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공격 성공 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87" r="0" b="-41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87" r="0" b="-41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088" r="0" b="-408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플레이어 (2/5): 이동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기본 이동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점프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달리기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 속도 증가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 거리에 비례한 기력 사용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구르기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[점프] 키와 동일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무적 상태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방어 자세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 속도 감소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피해 감소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방어 성공 시 기력 사용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구르기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3855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81" r="0" b="-408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57623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68" r="0" b="-426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플레이어 (3/5): 공격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8550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약공격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콤보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적은 기력 사용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7623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강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단일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큰 데미지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많은 기력 사용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57623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87" r="0" b="-41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플레이어 (4/5): 스킬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7623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스킬 2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공격 속도 증가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많은 마나 사용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38550" y="3333750"/>
            <a:ext cx="5505450" cy="2857500"/>
            <a:chOff x="0" y="0"/>
            <a:chExt cx="10446218" cy="54219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87" r="0" b="-418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638550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스킬 1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체력 회복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적은 마나 사용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43" r="0" b="-42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67" r="0" b="-42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30" r="0" b="-42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플레이어 (5/5): 기타 행동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포탑 상호 작용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근처에서 발동 가능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관찰 상태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[관찰] 키 입력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아군 포탑 </a:t>
            </a: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쿨타임 확인 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적군 포탑 </a:t>
            </a: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체력 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피격 및 사망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3. 핵심 기능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3250" y="5906694"/>
            <a:ext cx="12001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[보스 몬스터]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98" r="0" b="-39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67" r="0" b="-41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389" r="0" b="-438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보스 몬스터 (1/4): 비전투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순찰 및 대기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플레이어 미발견 상태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범위 내 무작위 지점으로 이동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도발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플레이어 발견 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일정 거리로 접근하여 도발 모션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피격 및 사망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비전투 상태에서 피격 시 전투 상태로 전환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데미지 누적 시 피격 모션 발동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83" r="0" b="-4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37" r="0" b="-413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46" r="0" b="-424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보스 몬스터 (2/4): 페이즈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약공격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연속 공격 4타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강공격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큰 데미지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속공격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중간 데미지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63" r="0" b="-41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73" r="0" b="-40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01" r="0" b="-420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보스 몬스터 (3/4): 페이즈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페이즈 2 발동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그로기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자세 변경 (분노 상태)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 속도 증가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패턴 추가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돌진 올려치기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빠른 접근 및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플레이어 끝까지 추격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회전 베기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이동하며 전방위 공격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3855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35" r="0" b="-423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57385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87" r="0" b="-418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보스 몬스터 (4/4): 페이즈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8550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페이즈 3 발동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각성 상태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이동 속도 증가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패턴 추가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7623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터렛 적군화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범위 내 아군 터렛 적군화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범위 내 적군 터렛 전투모드 돌입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3. 핵심 기능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3250" y="5906694"/>
            <a:ext cx="12001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[터렛 기믹]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07" r="0" b="-410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19" r="0" b="-411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63" r="0" b="-426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터렛 기믹 (1/2): 아군 상태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수면 모드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상호작용 시 대기 모드 전환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대기 모드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쿨타임 적용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상호작용 시 전투 모드 전환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전투 모드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범위 내 보스 몬스터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일정 시간 후 </a:t>
            </a: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전투 모드 해제</a:t>
            </a:r>
          </a:p>
          <a:p>
            <a:pPr algn="l" marL="1295402" indent="-323850" lvl="3">
              <a:lnSpc>
                <a:spcPts val="3600"/>
              </a:lnSpc>
              <a:buFont typeface="Arial"/>
              <a:buChar char="￭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대기 모드 전환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333750"/>
            <a:ext cx="5505450" cy="2857500"/>
            <a:chOff x="0" y="0"/>
            <a:chExt cx="10446218" cy="5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87" r="0" b="-41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1050" y="3333750"/>
            <a:ext cx="5505450" cy="2857500"/>
            <a:chOff x="0" y="0"/>
            <a:chExt cx="10446218" cy="5421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38" r="0" b="-42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1275" y="3333750"/>
            <a:ext cx="5505450" cy="2857500"/>
            <a:chOff x="0" y="0"/>
            <a:chExt cx="10446218" cy="5421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6231" cy="5421913"/>
            </a:xfrm>
            <a:custGeom>
              <a:avLst/>
              <a:gdLst/>
              <a:ahLst/>
              <a:cxnLst/>
              <a:rect r="r" b="b" t="t" l="l"/>
              <a:pathLst>
                <a:path h="5421913" w="10446231">
                  <a:moveTo>
                    <a:pt x="0" y="0"/>
                  </a:moveTo>
                  <a:lnTo>
                    <a:pt x="10446231" y="0"/>
                  </a:lnTo>
                  <a:lnTo>
                    <a:pt x="10446231" y="5421913"/>
                  </a:lnTo>
                  <a:lnTo>
                    <a:pt x="0" y="542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80" r="0" b="-428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3. 터렛 기믹 (1/2): 적군 상태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적군화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보스 페이즈 3 패턴 발동 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전투 모드 자동 전환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색상 변경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1275" y="6543675"/>
            <a:ext cx="55054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피격 및 파괴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적군 상태 만 파괴 가능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050" y="6543675"/>
            <a:ext cx="55054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전투 모드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범위 내 플레이어 공격</a:t>
            </a:r>
          </a:p>
          <a:p>
            <a:pPr algn="l" marL="863601" indent="-287867" lvl="2">
              <a:lnSpc>
                <a:spcPts val="3600"/>
              </a:lnSpc>
              <a:buFont typeface="Arial"/>
              <a:buChar char="⚬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일정 시간 후 </a:t>
            </a: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전투 모드 해제</a:t>
            </a:r>
          </a:p>
          <a:p>
            <a:pPr algn="l" marL="1295402" indent="-323850" lvl="3">
              <a:lnSpc>
                <a:spcPts val="3600"/>
              </a:lnSpc>
              <a:buFont typeface="Arial"/>
              <a:buChar char="￭"/>
            </a:pPr>
            <a:r>
              <a:rPr lang="en-US" sz="2000">
                <a:solidFill>
                  <a:srgbClr val="F0F6FC"/>
                </a:solidFill>
                <a:latin typeface="Lato"/>
                <a:ea typeface="Lato"/>
                <a:cs typeface="Lato"/>
                <a:sym typeface="Lato"/>
              </a:rPr>
              <a:t>대기 모드 전환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3. 핵심 기능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3250" y="5906694"/>
            <a:ext cx="12001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[유저 인터페이스]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3942" r="0" b="-8394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0" y="2047875"/>
            <a:ext cx="12192000" cy="6858000"/>
            <a:chOff x="0" y="0"/>
            <a:chExt cx="13789420" cy="7756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89433" cy="7756549"/>
            </a:xfrm>
            <a:custGeom>
              <a:avLst/>
              <a:gdLst/>
              <a:ahLst/>
              <a:cxnLst/>
              <a:rect r="r" b="b" t="t" l="l"/>
              <a:pathLst>
                <a:path h="7756549" w="13789433">
                  <a:moveTo>
                    <a:pt x="0" y="0"/>
                  </a:moveTo>
                  <a:lnTo>
                    <a:pt x="13789433" y="0"/>
                  </a:lnTo>
                  <a:lnTo>
                    <a:pt x="13789433" y="7756549"/>
                  </a:lnTo>
                  <a:lnTo>
                    <a:pt x="0" y="7756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7" t="0" r="-434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23913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. 유저 인터페이스 (일시정지)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4. 전체 플레이 영상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9059862"/>
            <a:ext cx="16544925" cy="1000125"/>
            <a:chOff x="0" y="0"/>
            <a:chExt cx="22059900" cy="133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0599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▶ 터렛 작동 (0:04)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rgbClr val="C9D1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▶ 페이즈 1 (0:09)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rgbClr val="C9D1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▶ 페이즈 2 (0:23)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rgbClr val="C9D1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▶ 페이즈 3 (0:44)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r>
          </a:p>
        </p:txBody>
      </p:sp>
      <p:pic>
        <p:nvPicPr>
          <p:cNvPr name="Picture 8" id="8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1759149" y="758391"/>
            <a:ext cx="14769702" cy="8301472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3250" y="4467225"/>
            <a:ext cx="12001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7875">
                <a:solidFill>
                  <a:srgbClr val="33CCFF"/>
                </a:solidFill>
                <a:latin typeface="Poppins Bold"/>
                <a:ea typeface="Poppins Bold"/>
                <a:cs typeface="Poppins Bold"/>
                <a:sym typeface="Poppins Bold"/>
              </a:rPr>
              <a:t>5. 기능 상세 정보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750343"/>
            <a:ext cx="7800975" cy="6354434"/>
            <a:chOff x="0" y="0"/>
            <a:chExt cx="10401300" cy="84725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1300" cy="8472578"/>
            </a:xfrm>
            <a:custGeom>
              <a:avLst/>
              <a:gdLst/>
              <a:ahLst/>
              <a:cxnLst/>
              <a:rect r="r" b="b" t="t" l="l"/>
              <a:pathLst>
                <a:path h="8472578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8472578"/>
                  </a:lnTo>
                  <a:lnTo>
                    <a:pt x="0" y="8472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65" r="0" b="-106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2078831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블루프린트:  [space] 점프 / 구르기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631031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6. 기능 상세 정보 - 플레이어 상태 시스템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62560" y="2078830"/>
            <a:ext cx="8191023" cy="1067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설명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상태 진입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특정 행동을 하는 경우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상태 해제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몽타주가 종료되는 시점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전환 가능한 다른 상태로 전환되는 시점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Tick 이벤트를 통해 해당 상태가 유지되고 있는지 또는 유지될 수 있는지 판단 후 해제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버퍼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다른 상태로 전환되어 상태를 해제하는 코드가 발동하는 경우 부울  변수를 통해 버퍼로 쌓고 이후 처리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시도했던 다른 방법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이전 상태를 스택으로 저장하여 팝 형식으로 상태 확인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750343"/>
            <a:ext cx="7800975" cy="2700338"/>
            <a:chOff x="0" y="0"/>
            <a:chExt cx="10401300" cy="3600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1300" cy="3600450"/>
            </a:xfrm>
            <a:custGeom>
              <a:avLst/>
              <a:gdLst/>
              <a:ahLst/>
              <a:cxnLst/>
              <a:rect r="r" b="b" t="t" l="l"/>
              <a:pathLst>
                <a:path h="360045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3600450"/>
                  </a:lnTo>
                  <a:lnTo>
                    <a:pt x="0" y="3600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7" r="0" b="-122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6331743"/>
            <a:ext cx="7800975" cy="2700338"/>
            <a:chOff x="0" y="0"/>
            <a:chExt cx="10401300" cy="3600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01300" cy="3600450"/>
            </a:xfrm>
            <a:custGeom>
              <a:avLst/>
              <a:gdLst/>
              <a:ahLst/>
              <a:cxnLst/>
              <a:rect r="r" b="b" t="t" l="l"/>
              <a:pathLst>
                <a:path h="360045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3600450"/>
                  </a:lnTo>
                  <a:lnTo>
                    <a:pt x="0" y="3600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1" t="0" r="-28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1538" y="2078831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애니메이션 몽타주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0108" y="8184356"/>
            <a:ext cx="85810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참고 자료</a:t>
            </a:r>
          </a:p>
          <a:p>
            <a:pPr algn="l" marL="453393" indent="-226697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Paragon: Greystone 애니메이션 블루프린트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538" y="631031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6. 기능 상세 정보 - 플레이어 콤보 공격 시스템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1538" y="5660231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블루프린트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2560" y="2078830"/>
            <a:ext cx="8191023" cy="576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설명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섹션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모션이 이어지는 공격을 배치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섹션을 통해 다음 공격 위치를 지정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노티파이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첫 번째 노티파이: 공격 범위를 적용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두 번째 노티파이: 재공격 및 콤보 처리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4388" y="2750343"/>
            <a:ext cx="4294189" cy="6858000"/>
            <a:chOff x="0" y="0"/>
            <a:chExt cx="5725586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5585" cy="9144000"/>
            </a:xfrm>
            <a:custGeom>
              <a:avLst/>
              <a:gdLst/>
              <a:ahLst/>
              <a:cxnLst/>
              <a:rect r="r" b="b" t="t" l="l"/>
              <a:pathLst>
                <a:path h="9144000" w="5725585">
                  <a:moveTo>
                    <a:pt x="0" y="0"/>
                  </a:moveTo>
                  <a:lnTo>
                    <a:pt x="5725585" y="0"/>
                  </a:lnTo>
                  <a:lnTo>
                    <a:pt x="572558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13352" y="2750343"/>
            <a:ext cx="4095511" cy="6858000"/>
            <a:chOff x="0" y="0"/>
            <a:chExt cx="5460682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0682" cy="9144000"/>
            </a:xfrm>
            <a:custGeom>
              <a:avLst/>
              <a:gdLst/>
              <a:ahLst/>
              <a:cxnLst/>
              <a:rect r="r" b="b" t="t" l="l"/>
              <a:pathLst>
                <a:path h="9144000" w="5460682">
                  <a:moveTo>
                    <a:pt x="0" y="0"/>
                  </a:moveTo>
                  <a:lnTo>
                    <a:pt x="5460682" y="0"/>
                  </a:lnTo>
                  <a:lnTo>
                    <a:pt x="5460682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54" t="0" r="-295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1538" y="2078831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의사 코드 (Psuedo Code of Behavior Tree)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4012" y="2078830"/>
            <a:ext cx="8581072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설명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전투 상태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첫 피격 발생하면 전투 상태 전환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페이즈 전환 체크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RunOnce()을 통해 한 번만 접근 가능 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페이즈 3&lt;각성&gt; &amp; 페이즈 2&lt;분노&gt;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이동 속도 증가 (합연산)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새로운 패턴 추가</a:t>
            </a:r>
          </a:p>
          <a:p>
            <a:pPr algn="l" marL="1748790" indent="-437197" lvl="3">
              <a:lnSpc>
                <a:spcPts val="3240"/>
              </a:lnSpc>
              <a:buFont typeface="Arial"/>
              <a:buChar char="￭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스킬로 간주하여 쿨다운 부여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538" y="631031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6. 기능 상세 정보 - 보스 몬스터 패턴 알고리즘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586037"/>
            <a:ext cx="6888873" cy="3286125"/>
            <a:chOff x="0" y="0"/>
            <a:chExt cx="9185164" cy="438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85164" cy="4381500"/>
            </a:xfrm>
            <a:custGeom>
              <a:avLst/>
              <a:gdLst/>
              <a:ahLst/>
              <a:cxnLst/>
              <a:rect r="r" b="b" t="t" l="l"/>
              <a:pathLst>
                <a:path h="4381500" w="9185164">
                  <a:moveTo>
                    <a:pt x="0" y="0"/>
                  </a:moveTo>
                  <a:lnTo>
                    <a:pt x="9185164" y="0"/>
                  </a:lnTo>
                  <a:lnTo>
                    <a:pt x="9185164" y="4381500"/>
                  </a:lnTo>
                  <a:lnTo>
                    <a:pt x="0" y="438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8" r="0" b="-41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2078831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블루프린트: 보스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44012" y="2078830"/>
            <a:ext cx="8581072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설명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패턴 발동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블루프린트 인터페이스를 통해 범위 내 포탑의 이벤트 호출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적군화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터렛은 타임라인을 통해 색상을 변경 후 팀 전환 진행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플레이어가 작동하지 않은 수면 모드였을 경우 작동을 우선 진행</a:t>
            </a:r>
          </a:p>
          <a:p>
            <a:pPr algn="l" marL="1165860" indent="-388620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색상과 밝기는 동시에 변경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538" y="631031"/>
            <a:ext cx="173721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6. 기능 상세 정보 - 터렛 적군화 패턴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71538" y="6569868"/>
            <a:ext cx="7185306" cy="3286125"/>
            <a:chOff x="0" y="0"/>
            <a:chExt cx="9580408" cy="438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80408" cy="4381500"/>
            </a:xfrm>
            <a:custGeom>
              <a:avLst/>
              <a:gdLst/>
              <a:ahLst/>
              <a:cxnLst/>
              <a:rect r="r" b="b" t="t" l="l"/>
              <a:pathLst>
                <a:path h="4381500" w="9580408">
                  <a:moveTo>
                    <a:pt x="0" y="0"/>
                  </a:moveTo>
                  <a:lnTo>
                    <a:pt x="9580408" y="0"/>
                  </a:lnTo>
                  <a:lnTo>
                    <a:pt x="9580408" y="4381500"/>
                  </a:lnTo>
                  <a:lnTo>
                    <a:pt x="0" y="438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8" r="0" b="-34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1538" y="6007893"/>
            <a:ext cx="81910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블루프린트: 터렛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915" y="4371975"/>
            <a:ext cx="1737217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33CCFF"/>
                </a:solidFill>
                <a:latin typeface="Poppins"/>
                <a:ea typeface="Poppins"/>
                <a:cs typeface="Poppins"/>
                <a:sym typeface="Poppins"/>
              </a:rPr>
              <a:t>THANK YOU 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8" y="9267825"/>
            <a:ext cx="192527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0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STEEL &amp; SOUL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DAG3sPFSF5s</dc:identifier>
  <dcterms:modified xsi:type="dcterms:W3CDTF">2011-08-01T06:04:30Z</dcterms:modified>
  <cp:revision>1</cp:revision>
  <dc:title>STEEL &amp; SOUL</dc:title>
</cp:coreProperties>
</file>